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2423160"/>
            <a:ext cx="5486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3511296"/>
            <a:ext cx="146304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3063240"/>
            <a:ext cx="20116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2834640"/>
            <a:ext cx="20116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560320"/>
            <a:ext cx="2011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33375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行動建議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91440"/>
            <a:ext cx="11759184" cy="256032"/>
          </a:xfrm>
          <a:prstGeom prst="rect">
            <a:avLst/>
          </a:prstGeom>
          <a:solidFill>
            <a:srgbClr val="20253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7744" y="91440"/>
            <a:ext cx="1164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威德｜通路客群行動建議｜當前瓶頸 x 核心機會 x invosData 數據解決方案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" y="420624"/>
            <a:ext cx="2322576" cy="685800"/>
          </a:xfrm>
          <a:prstGeom prst="rect">
            <a:avLst/>
          </a:prstGeom>
          <a:ln w="1016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20624"/>
            <a:ext cx="232257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" y="841248"/>
            <a:ext cx="219456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4754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守住｜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好市多舊客基本盤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67665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舊客穩健但品牌過度依賴單一客群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032" y="87782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目標｜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忠誠度維持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87%+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、人均次對標市場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1.8 次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420624"/>
            <a:ext cx="2322576" cy="685800"/>
          </a:xfrm>
          <a:prstGeom prst="rect">
            <a:avLst/>
          </a:prstGeom>
          <a:ln w="10160">
            <a:solidFill>
              <a:srgbClr val="933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420624"/>
            <a:ext cx="2322576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96896" y="841248"/>
            <a:ext cx="2194560" cy="182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4754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搶回｜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好市多新客入口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15184" y="67665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新客斷崖下滑，善存攔截源頭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15184" y="87782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目標｜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首購佔比回升至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40%+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（對標2024/05）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01184" y="420624"/>
            <a:ext cx="2322576" cy="685800"/>
          </a:xfrm>
          <a:prstGeom prst="rect">
            <a:avLst/>
          </a:prstGeom>
          <a:ln w="1016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1184" y="420624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6048" y="841248"/>
            <a:ext cx="21945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4754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開拓｜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電商第二戰場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74336" y="67665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96%銷額鎖死好市多，無備用戰場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74336" y="87782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目標｜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好市多以外佔比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&gt;10%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（對標品類均值）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260336" y="420624"/>
            <a:ext cx="2322576" cy="685800"/>
          </a:xfrm>
          <a:prstGeom prst="rect">
            <a:avLst/>
          </a:prstGeom>
          <a:ln w="1016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0336" y="420624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841248"/>
            <a:ext cx="21945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3488" y="4754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深化｜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舊客回購頻率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33488" y="67665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半年一次的囤貨節奏無法建立黏著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33488" y="87782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目標｜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人均次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1.8次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（對標市場均值）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619488" y="420624"/>
            <a:ext cx="2322576" cy="685800"/>
          </a:xfrm>
          <a:prstGeom prst="rect">
            <a:avLst/>
          </a:prstGeom>
          <a:ln w="1016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19488" y="420624"/>
            <a:ext cx="2322576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74352" y="841248"/>
            <a:ext cx="2194560" cy="182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4754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重構｜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檔期新客策略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92640" y="67665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放寬限購無效，需從拉深度轉向拉廣度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92640" y="87782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目標｜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檔期新客數回升至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8,000+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（對標2024/10）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2880" y="1170432"/>
            <a:ext cx="11759184" cy="301752"/>
          </a:xfrm>
          <a:prstGeom prst="rect">
            <a:avLst/>
          </a:prstGeom>
          <a:solidFill>
            <a:srgbClr val="20253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" y="1197864"/>
            <a:ext cx="1164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關鍵資訊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1499616"/>
            <a:ext cx="2322576" cy="228600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1572768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舊客+23%撐住銷額，行為穩健</a:t>
            </a:r>
            <a:endParaRPr lang="en-US" sz="10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威德既有買者人數+23%、銷額+19%，貢獻57%銷額，舊客人均次+3%、單次金+5%，行為穩健。但品牌整體人均次-6%是被新客（-3%）和競品客（-6%）拖累，品牌過度依賴舊客撐盤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忠誠度87.8%，但輕度買者流失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好市多內威德買者忠誠度87.8%（僅12%兼買競品），基本盤穩固。但輕度買者銷額-5%，買者離開品類人數是流失至競品的5倍——最大威脅不是被搶走，是直接不買了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42032" y="1499616"/>
            <a:ext cx="2322576" cy="228600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1572768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新客-16%，首購佔比44.7%→30.8%</a:t>
            </a:r>
            <a:endParaRPr lang="en-US" sz="10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威德新客人數YoY -16%（市場僅-4%），好市多檔期首購佔比從44.7%連續下滑至30.8%，檔期正從「開源機器」退化為「舊客補貨日」。新客人均次-3%、單次金-6%，投入金額也在下降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善存攔截潛在新客水源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善存86%新客是好市多舊客但前期沒買益生菌——這正是威德最需要的增量客群。流出至善存的威德買者中53%是前期新客，新客留存有漏洞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01184" y="1499616"/>
            <a:ext cx="2322576" cy="228600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92624" y="1572768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DE6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通路集中度達危險水位</a:t>
            </a:r>
            <a:endParaRPr lang="en-US" sz="10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威德96%銷額來自好市多，全家-76%，電商/藥妝幾乎無量。市場前十大品牌中通路最單一，好市多任何政策變動直接決定威德生死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DE6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電商已有消費者基礎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益生菌買者在momo併買以保健食品為主（魚油/鈣/葉黃素），消費者已有電商買保健品習慣。配方時代官網+226%證明電商可行，威德卻缺席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0336" y="1499616"/>
            <a:ext cx="2322576" cy="228600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51776" y="1572768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DE6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非檔期月回購率僅1-3%</a:t>
            </a:r>
            <a:endParaRPr lang="en-US" sz="10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威德消費集中在5月/10月檔期，中間半年幾乎不購買。非檔期月回購率僅1-3%，代表「囤貨型購買」天然不利建立品牌黏著度，消費者只在打折時出現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DE6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整體市場重度買者人數膨脹但品質稀釋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市場整體重度買者人數+13%但人均次-4%、單次金-5%，顯示中度買者升級進來拉低平均值。威德舊客本身穩健，但若新客持續萎縮，未來舊客自然流失後將無後備力量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619488" y="1499616"/>
            <a:ext cx="2322576" cy="228600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10928" y="1572768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D1D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放寬限購盒數，人均盒數反降</a:t>
            </a:r>
            <a:endParaRPr lang="en-US" sz="1000" dirty="0"/>
          </a:p>
          <a:p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2025/10檔期放寬限購6→12盒，但人均盒數2.78（低於2025/05的2.90），7成消費者每檔不超過3盒——這是需求自然上限，不是限購造成的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D1D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檔期銷額下滑的根因是人不夠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2025/10總買者-11.5%、銷售額-15.3%，首購新客從44.7%降至30.8%。檔期策略的瓶頸不在「買的量不夠」而在「來的人不夠」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82880" y="3877056"/>
            <a:ext cx="11759184" cy="301752"/>
          </a:xfrm>
          <a:prstGeom prst="rect">
            <a:avLst/>
          </a:prstGeom>
          <a:solidFill>
            <a:srgbClr val="20253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7744" y="3904488"/>
            <a:ext cx="1164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行動建議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82880" y="4206240"/>
            <a:ext cx="2322576" cy="224028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279392"/>
            <a:ext cx="2139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補貨提醒：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建立消耗週期計算，購買後3-4個月自動推送補貨提醒，目標人均年購次數從1.5次提升至對標市場1.8次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品類喚醒：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鎖定「已6個月未購買且無競品購買紀錄」的威德流失買者，推送品類需求內容召回，攔截品類離開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舊客分層：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RFM分層經營——高頻客推家庭備貨組合、中頻客推回購提醒、沉默客推品類科普喚醒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42032" y="4206240"/>
            <a:ext cx="2322576" cy="224028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33472" y="4279392"/>
            <a:ext cx="2139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BAAC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搶先觸達：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識別好市多會員中「有買保健品但沒買過益生菌」族群，檔期前2-4週投放威德品牌廣告，搶先善存建立心智佔據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BAAC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新客留存：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首購後30/60/90天分階段投放留存廣告——使用提醒→回購優惠→檔期預告，目標首購回購率從18.9%提升至對標舊客水平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BAAC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檔期新客激勵：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設計首購專屬小包裝體驗組，降低嘗試門檻，目標首購佔比回升至40%以上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901184" y="4206240"/>
            <a:ext cx="2322576" cy="224028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92624" y="4279392"/>
            <a:ext cx="2139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FCE5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momo旗艦佈局：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以好市多同款產品的小包裝/試用組切入momo官方旗艦，降低電商首購門檻，建立「電商試用→好市多回購」跨通路路徑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FCE5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電商種草：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鎖定momo/蝦皮上有益生菌購買紀錄但未買過威德的消費者，投放品牌教育廣告+試用優惠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260336" y="4206240"/>
            <a:ext cx="2322576" cy="224028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51776" y="4279392"/>
            <a:ext cx="2139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FCE5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週期補貨機制：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依上次購買時間推估食用完畢日，提前7天推送補貨提醒，將「半年囤一次」轉化為「每3-4個月補一次」，目標人均次從1.5次提升至1.8次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FCE5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中間檔體驗：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在5月/10月大檔之間增設小型體驗檔，不靠折扣而是以新口味/新規格試用切入，擴大非檔期接觸面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9619488" y="4206240"/>
            <a:ext cx="2322576" cy="224028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10928" y="4279392"/>
            <a:ext cx="2139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C4C8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新客首購激勵：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將檔期部分資源轉移到首購激勵——首購專屬小包裝、好市多APP推播「有買保健品沒買過益生菌」會員，目標檔期新客數回升至8,000+人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C4C8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檔期效率追蹤：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每檔期提供「首購數/回購率/喚回率/人均盒數」四維報告，取代看總銷額的粗放評估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56032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會員留存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353312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53312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LTV深化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615184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15184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新客導流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712464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12464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精準受眾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974336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74336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新客導流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071616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71616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精準受眾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333488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33488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會員留存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430768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30768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LTV深化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9692640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92640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新客導流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0789920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789920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通路監測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371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91440"/>
            <a:ext cx="11759184" cy="256032"/>
          </a:xfrm>
          <a:prstGeom prst="rect">
            <a:avLst/>
          </a:prstGeom>
          <a:solidFill>
            <a:srgbClr val="20253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7744" y="91440"/>
            <a:ext cx="1164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威德｜通路客群行動建議【附數據來源】｜每段標示原始報告頁碼 (Pxx)、策略推論、invos 服務能力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" y="420624"/>
            <a:ext cx="2322576" cy="685800"/>
          </a:xfrm>
          <a:prstGeom prst="rect">
            <a:avLst/>
          </a:prstGeom>
          <a:ln w="1016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20624"/>
            <a:ext cx="232257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" y="841248"/>
            <a:ext cx="219456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4754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守住｜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好市多舊客基本盤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67665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舊客穩健但品牌過度依賴單一客群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(P4, P60)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032" y="87782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目標｜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忠誠度維持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87%+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、人均次對標市場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1.8 次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(P55（忠誠度87.8%）、P10（市場1.8次）)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420624"/>
            <a:ext cx="2322576" cy="685800"/>
          </a:xfrm>
          <a:prstGeom prst="rect">
            <a:avLst/>
          </a:prstGeom>
          <a:ln w="10160">
            <a:solidFill>
              <a:srgbClr val="933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420624"/>
            <a:ext cx="2322576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96896" y="841248"/>
            <a:ext cx="2194560" cy="182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4754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搶回｜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好市多新客入口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15184" y="67665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新客斷崖下滑，善存攔截源頭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(P38, P66)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15184" y="87782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目標｜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首購佔比回升至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40%+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（對標2024/05）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(P66（2024/05首購佔比44.7%）【策略方向】)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01184" y="420624"/>
            <a:ext cx="2322576" cy="685800"/>
          </a:xfrm>
          <a:prstGeom prst="rect">
            <a:avLst/>
          </a:prstGeom>
          <a:ln w="1016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1184" y="420624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6048" y="841248"/>
            <a:ext cx="21945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4754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開拓｜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電商第二戰場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74336" y="67665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96%銷額鎖死好市多，無備用戰場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(P4, P33)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74336" y="87782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目標｜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好市多以外佔比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&gt;10%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（對標品類均值）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(【策略方向】)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260336" y="420624"/>
            <a:ext cx="2322576" cy="685800"/>
          </a:xfrm>
          <a:prstGeom prst="rect">
            <a:avLst/>
          </a:prstGeom>
          <a:ln w="1016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0336" y="420624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841248"/>
            <a:ext cx="21945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3488" y="4754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深化｜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舊客回購頻率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33488" y="67665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半年一次的囤貨節奏無法建立黏著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(P67, P80)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33488" y="87782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目標｜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人均次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1.8次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（對標市場均值）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(P4（威德1.5次）、P10（市場1.8次）)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619488" y="420624"/>
            <a:ext cx="2322576" cy="685800"/>
          </a:xfrm>
          <a:prstGeom prst="rect">
            <a:avLst/>
          </a:prstGeom>
          <a:ln w="1016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19488" y="420624"/>
            <a:ext cx="2322576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74352" y="841248"/>
            <a:ext cx="2194560" cy="182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4754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重構｜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檔期新客策略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92640" y="67665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放寬限購無效，需從拉深度轉向拉廣度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(P64, P65)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92640" y="87782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目標｜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檔期新客數回升至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8,000+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（對標2024/10）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(P66（2024/10首購約8,190人）【策略方向】)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2880" y="1170432"/>
            <a:ext cx="11759184" cy="301752"/>
          </a:xfrm>
          <a:prstGeom prst="rect">
            <a:avLst/>
          </a:prstGeom>
          <a:solidFill>
            <a:srgbClr val="20253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" y="1197864"/>
            <a:ext cx="1164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關鍵資訊（附來源）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1499616"/>
            <a:ext cx="2322576" cy="228600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1572768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舊客+23%撐住銷額，行為穩健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威德既有買者人數+23%、銷額+19%，貢獻57%銷額，舊客人均次+3%、單次金+5%，行為穩健。但品牌整體人均次-6%是被新客（-3%）和競品客（-6%）拖累，品牌過度依賴舊客撐盤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(P38（舊客+23%、銷額+19%、舊客人均次+3%、單次金+5%）、P4（品牌整體人均次-6%）)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忠誠度87.8%，但輕度買者流失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好市多內威德買者忠誠度87.8%（僅12%兼買競品），基本盤穩固。但輕度買者銷額-5%，買者離開品類人數是流失至競品的5倍——最大威脅不是被搶走，是直接不買了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(P55（忠誠度87.8%）、P60（輕度-5%）、P49（離開品類為流失競品5倍）)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42032" y="1499616"/>
            <a:ext cx="2322576" cy="228600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1572768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新客-16%，首購佔比44.7%→30.8%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威德新客人數YoY -16%（市場僅-4%），好市多檔期首購佔比從44.7%連續下滑至30.8%，檔期正從「開源機器」退化為「舊客補貨日」。新客人均次-3%、單次金-6%，投入金額也在下降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(P38（新客-16%）、P13（市場-4%）、P66（44.7%→30.8%）)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善存攔截潛在新客水源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善存86%新客是好市多舊客但前期沒買益生菌——這正是威德最需要的增量客群。流出至善存的威德買者中53%是前期新客，新客留存有漏洞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(P56（善存86%新客來源）、P52（53%流出新客）)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01184" y="1499616"/>
            <a:ext cx="2322576" cy="228600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92624" y="1572768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DE6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通路集中度達危險水位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威德96%銷額來自好市多，全家-76%，電商/藥妝幾乎無量。市場前十大品牌中通路最單一，好市多任何政策變動直接決定威德生死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(P4（96%好市多）、P22（全家-76%）、P33（通路佈局）)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DE6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電商已有消費者基礎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益生菌買者在momo併買以保健食品為主（魚油/鈣/葉黃素），消費者已有電商買保健品習慣。配方時代官網+226%證明電商可行，威德卻缺席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(P24（momo併買保健品）、P21（配方時代+226%）)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0336" y="1499616"/>
            <a:ext cx="2322576" cy="228600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51776" y="1572768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DE6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非檔期月回購率僅1-3%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威德消費集中在5月/10月檔期，中間半年幾乎不購買。非檔期月回購率僅1-3%，代表「囤貨型購買」天然不利建立品牌黏著度，消費者只在打折時出現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(P67（非檔期月回購率1-3%）)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DE6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整體市場重度買者人數膨脹但品質稀釋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市場整體重度買者人數+13%但人均次-4%、單次金-5%，顯示中度買者升級進來拉低平均值。威德舊客本身穩健，但若新客持續萎縮，未來舊客自然流失後將無後備力量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(P18（重度+13%、人均次-4%、單次金-5%）)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619488" y="1499616"/>
            <a:ext cx="2322576" cy="228600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10928" y="1572768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D1D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放寬限購盒數，人均盒數反降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2025/10檔期放寬限購6→12盒，但人均盒數2.78（低於2025/05的2.90），7成消費者每檔不超過3盒——這是需求自然上限，不是限購造成的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(P65（人均盒數2.78 vs 2.90、7成≤3盒）)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D1D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檔期銷額下滑的根因是人不夠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2025/10總買者-11.5%、銷售額-15.3%，首購新客從44.7%降至30.8%。檔期策略的瓶頸不在「買的量不夠」而在「來的人不夠」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(P64（買者-11.5%、銷額-15.3%）、P66（首購44.7%→30.8%）)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82880" y="3877056"/>
            <a:ext cx="11759184" cy="301752"/>
          </a:xfrm>
          <a:prstGeom prst="rect">
            <a:avLst/>
          </a:prstGeom>
          <a:solidFill>
            <a:srgbClr val="20253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7744" y="3904488"/>
            <a:ext cx="1164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行動建議（附來源）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82880" y="4206240"/>
            <a:ext cx="2322576" cy="224028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279392"/>
            <a:ext cx="2139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補貨提醒：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建立消耗週期計算，購買後3-4個月自動推送補貨提醒，目標人均年購次數從1.5次提升至對標市場1.8次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(P67（非檔期月回購1-3%）+ 【invos 服務】)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品類喚醒：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鎖定「已6個月未購買且無競品購買紀錄」的威德流失買者，推送品類需求內容召回，攔截品類離開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(P49（離開品類人數）+ 【invos 服務】)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舊客分層：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RFM分層經營——高頻客推家庭備貨組合、中頻客推回購提醒、沉默客推品類科普喚醒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(【invos 服務】+ 策略推論)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42032" y="4206240"/>
            <a:ext cx="2322576" cy="224028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33472" y="4279392"/>
            <a:ext cx="2139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BAAC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搶先觸達：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識別好市多會員中「有買保健品但沒買過益生菌」族群，檔期前2-4週投放威德品牌廣告，搶先善存建立心智佔據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(P56 + 【invos 服務】)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BAAC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新客留存：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首購後30/60/90天分階段投放留存廣告——使用提醒→回購優惠→檔期預告，目標首購回購率從18.9%提升至對標舊客水平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(P81（回購率18.9%）+ 【invos 服務】)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BAAC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檔期新客激勵：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設計首購專屬小包裝體驗組，降低嘗試門檻，目標首購佔比回升至40%以上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(【策略推論】)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901184" y="4206240"/>
            <a:ext cx="2322576" cy="224028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92624" y="4279392"/>
            <a:ext cx="2139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FCE5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momo旗艦佈局：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以好市多同款產品的小包裝/試用組切入momo官方旗艦，降低電商首購門檻，建立「電商試用→好市多回購」跨通路路徑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(P24 + 【策略推論】)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FCE5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電商種草：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鎖定momo/蝦皮上有益生菌購買紀錄但未買過威德的消費者，投放品牌教育廣告+試用優惠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(【invos 服務】+ 策略推論)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260336" y="4206240"/>
            <a:ext cx="2322576" cy="224028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51776" y="4279392"/>
            <a:ext cx="2139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FCE5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週期補貨機制：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依上次購買時間推估食用完畢日，提前7天推送補貨提醒，將「半年囤一次」轉化為「每3-4個月補一次」，目標人均次從1.5次提升至1.8次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(P67 + 【invos 服務】)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FCE5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中間檔體驗：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在5月/10月大檔之間增設小型體驗檔，不靠折扣而是以新口味/新規格試用切入，擴大非檔期接觸面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(【策略推論】)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9619488" y="4206240"/>
            <a:ext cx="2322576" cy="2240280"/>
          </a:xfrm>
          <a:prstGeom prst="rect">
            <a:avLst/>
          </a:prstGeom>
          <a:ln w="635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10928" y="4279392"/>
            <a:ext cx="213969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C4C8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新客首購激勵：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將檔期部分資源轉移到首購激勵——首購專屬小包裝、好市多APP推播「有買保健品沒買過益生菌」會員，目標檔期新客數回升至8,000+人</a:t>
            </a:r>
            <a:pPr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(【策略推論】)</a:t>
            </a:r>
            <a:endParaRPr lang="en-US" sz="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00" b="1" dirty="0">
                <a:solidFill>
                  <a:srgbClr val="C4C8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檔期效率追蹤：</a:t>
            </a:r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每檔期提供「首購數/回購率/喚回率/人均盒數」四維報告，取代看總銷額的粗放評估</a:t>
            </a:r>
            <a:pPr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(【invos 服務】)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56032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會員留存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353312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53312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LTV深化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615184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15184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新客導流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712464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12464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精準受眾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974336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74336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新客導流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071616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71616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精準受眾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333488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33488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會員留存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430768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30768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LTV深化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9692640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92640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新客導流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0789920" y="6483096"/>
            <a:ext cx="1005840" cy="18288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789920" y="6483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通路監測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371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威德 行動建議（2512MAT）</dc:title>
  <dc:subject>PptxGenJS Presentation</dc:subject>
  <dc:creator>invosData</dc:creator>
  <cp:lastModifiedBy>invosData</cp:lastModifiedBy>
  <cp:revision>1</cp:revision>
  <dcterms:created xsi:type="dcterms:W3CDTF">2026-05-08T10:53:58Z</dcterms:created>
  <dcterms:modified xsi:type="dcterms:W3CDTF">2026-05-08T10:53:58Z</dcterms:modified>
</cp:coreProperties>
</file>